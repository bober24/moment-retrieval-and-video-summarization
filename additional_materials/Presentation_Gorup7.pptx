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4"/>
    <p:sldMasterId id="214748367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5.xml"/><Relationship Id="rId22" Type="http://schemas.openxmlformats.org/officeDocument/2006/relationships/font" Target="fonts/Lato-italic.fntdata"/><Relationship Id="rId10" Type="http://schemas.openxmlformats.org/officeDocument/2006/relationships/slide" Target="slides/slide4.xml"/><Relationship Id="rId21" Type="http://schemas.openxmlformats.org/officeDocument/2006/relationships/font" Target="fonts/Lat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Montserrat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942195b15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a942195b15_0_271:notes"/>
          <p:cNvSpPr/>
          <p:nvPr>
            <p:ph idx="2" type="sldImg"/>
          </p:nvPr>
        </p:nvSpPr>
        <p:spPr>
          <a:xfrm>
            <a:off x="1714500" y="685800"/>
            <a:ext cx="34290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e08d869f82_3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e08d869f82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e08d869f8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e08d869f8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e08d869f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e08d869f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e08d869f8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e08d869f8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a942195b15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a942195b15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e08d869f82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e08d869f82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e08d869f82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e08d869f82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ab98829cc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ab98829cc0_0_50:notes"/>
          <p:cNvSpPr/>
          <p:nvPr>
            <p:ph idx="2" type="sldImg"/>
          </p:nvPr>
        </p:nvSpPr>
        <p:spPr>
          <a:xfrm>
            <a:off x="1714500" y="685800"/>
            <a:ext cx="34290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 light blu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"/>
          <p:cNvSpPr txBox="1"/>
          <p:nvPr>
            <p:ph type="ctrTitle"/>
          </p:nvPr>
        </p:nvSpPr>
        <p:spPr>
          <a:xfrm>
            <a:off x="564588" y="189852"/>
            <a:ext cx="6598200" cy="16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  <a:defRPr sz="5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4"/>
          <p:cNvSpPr txBox="1"/>
          <p:nvPr>
            <p:ph idx="1" type="subTitle"/>
          </p:nvPr>
        </p:nvSpPr>
        <p:spPr>
          <a:xfrm>
            <a:off x="564588" y="1829639"/>
            <a:ext cx="41967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800"/>
              <a:buNone/>
              <a:defRPr>
                <a:solidFill>
                  <a:srgbClr val="88898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400"/>
              <a:buNone/>
              <a:defRPr>
                <a:solidFill>
                  <a:srgbClr val="88898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9pPr>
          </a:lstStyle>
          <a:p/>
        </p:txBody>
      </p:sp>
      <p:pic>
        <p:nvPicPr>
          <p:cNvPr descr="UM40_RGB_B_diap.png" id="139" name="Google Shape;139;p14"/>
          <p:cNvPicPr preferRelativeResize="0"/>
          <p:nvPr/>
        </p:nvPicPr>
        <p:blipFill rotWithShape="1">
          <a:blip r:embed="rId3">
            <a:alphaModFix/>
          </a:blip>
          <a:srcRect b="0" l="0" r="20319" t="0"/>
          <a:stretch/>
        </p:blipFill>
        <p:spPr>
          <a:xfrm>
            <a:off x="360001" y="4630499"/>
            <a:ext cx="1590639" cy="381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23996" y="4749973"/>
            <a:ext cx="2915999" cy="142903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slide" type="obj">
  <p:cSld name="OBJEC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"/>
          <p:cNvSpPr txBox="1"/>
          <p:nvPr>
            <p:ph type="title"/>
          </p:nvPr>
        </p:nvSpPr>
        <p:spPr>
          <a:xfrm>
            <a:off x="360000" y="310695"/>
            <a:ext cx="8326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5"/>
          <p:cNvSpPr txBox="1"/>
          <p:nvPr>
            <p:ph idx="1" type="body"/>
          </p:nvPr>
        </p:nvSpPr>
        <p:spPr>
          <a:xfrm>
            <a:off x="360000" y="972000"/>
            <a:ext cx="8326800" cy="3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2pPr>
            <a:lvl3pPr indent="-3429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indent="-3429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4pPr>
            <a:lvl5pPr indent="-3429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15"/>
          <p:cNvSpPr txBox="1"/>
          <p:nvPr>
            <p:ph idx="12" type="sldNum"/>
          </p:nvPr>
        </p:nvSpPr>
        <p:spPr>
          <a:xfrm>
            <a:off x="8316142" y="4738800"/>
            <a:ext cx="370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pic>
        <p:nvPicPr>
          <p:cNvPr id="146" name="Google Shape;146;p15"/>
          <p:cNvPicPr preferRelativeResize="0"/>
          <p:nvPr/>
        </p:nvPicPr>
        <p:blipFill rotWithShape="1">
          <a:blip r:embed="rId2">
            <a:alphaModFix/>
          </a:blip>
          <a:srcRect b="0" l="0" r="19769" t="0"/>
          <a:stretch/>
        </p:blipFill>
        <p:spPr>
          <a:xfrm>
            <a:off x="360001" y="4630216"/>
            <a:ext cx="1602792" cy="379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3996" y="4749973"/>
            <a:ext cx="2915999" cy="142903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5"/>
          <p:cNvSpPr txBox="1"/>
          <p:nvPr>
            <p:ph idx="10" type="dt"/>
          </p:nvPr>
        </p:nvSpPr>
        <p:spPr>
          <a:xfrm>
            <a:off x="7336205" y="4736102"/>
            <a:ext cx="914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light blue">
  <p:cSld name="Title slide light blue">
    <p:bg>
      <p:bgPr>
        <a:solidFill>
          <a:schemeClr val="dk2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/>
          <p:nvPr>
            <p:ph type="ctrTitle"/>
          </p:nvPr>
        </p:nvSpPr>
        <p:spPr>
          <a:xfrm>
            <a:off x="564588" y="189852"/>
            <a:ext cx="6598200" cy="16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  <a:defRPr sz="5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6"/>
          <p:cNvSpPr txBox="1"/>
          <p:nvPr>
            <p:ph idx="1" type="subTitle"/>
          </p:nvPr>
        </p:nvSpPr>
        <p:spPr>
          <a:xfrm>
            <a:off x="564588" y="1829639"/>
            <a:ext cx="41967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800"/>
              <a:buNone/>
              <a:defRPr>
                <a:solidFill>
                  <a:srgbClr val="88898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400"/>
              <a:buNone/>
              <a:defRPr>
                <a:solidFill>
                  <a:srgbClr val="88898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9pPr>
          </a:lstStyle>
          <a:p/>
        </p:txBody>
      </p:sp>
      <p:pic>
        <p:nvPicPr>
          <p:cNvPr descr="UM40_RGB_B_blauw.png" id="152" name="Google Shape;152;p16"/>
          <p:cNvPicPr preferRelativeResize="0"/>
          <p:nvPr/>
        </p:nvPicPr>
        <p:blipFill rotWithShape="1">
          <a:blip r:embed="rId2">
            <a:alphaModFix/>
          </a:blip>
          <a:srcRect b="0" l="0" r="20319" t="0"/>
          <a:stretch/>
        </p:blipFill>
        <p:spPr>
          <a:xfrm>
            <a:off x="360001" y="4630501"/>
            <a:ext cx="1590639" cy="381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3996" y="4749973"/>
            <a:ext cx="2915999" cy="14290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 + illustration">
  <p:cSld name="1_Title slide + illustration">
    <p:bg>
      <p:bgPr>
        <a:solidFill>
          <a:schemeClr val="dk2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95196" y="2272938"/>
            <a:ext cx="4548805" cy="301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>
            <p:ph type="ctrTitle"/>
          </p:nvPr>
        </p:nvSpPr>
        <p:spPr>
          <a:xfrm>
            <a:off x="564588" y="189852"/>
            <a:ext cx="6598200" cy="16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  <a:defRPr sz="5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7"/>
          <p:cNvSpPr txBox="1"/>
          <p:nvPr>
            <p:ph idx="1" type="subTitle"/>
          </p:nvPr>
        </p:nvSpPr>
        <p:spPr>
          <a:xfrm>
            <a:off x="564588" y="1829639"/>
            <a:ext cx="41967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800"/>
              <a:buNone/>
              <a:defRPr>
                <a:solidFill>
                  <a:srgbClr val="88898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400"/>
              <a:buNone/>
              <a:defRPr>
                <a:solidFill>
                  <a:srgbClr val="88898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9pPr>
          </a:lstStyle>
          <a:p/>
        </p:txBody>
      </p:sp>
      <p:pic>
        <p:nvPicPr>
          <p:cNvPr descr="UM40_RGB_B_blauw.png" id="159" name="Google Shape;159;p17"/>
          <p:cNvPicPr preferRelativeResize="0"/>
          <p:nvPr/>
        </p:nvPicPr>
        <p:blipFill rotWithShape="1">
          <a:blip r:embed="rId3">
            <a:alphaModFix/>
          </a:blip>
          <a:srcRect b="0" l="0" r="20319" t="0"/>
          <a:stretch/>
        </p:blipFill>
        <p:spPr>
          <a:xfrm>
            <a:off x="360001" y="4630501"/>
            <a:ext cx="1590639" cy="381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23996" y="4749973"/>
            <a:ext cx="2915999" cy="142903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+ illustration">
  <p:cSld name="Title slide + illustration">
    <p:bg>
      <p:bgPr>
        <a:solidFill>
          <a:schemeClr val="dk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ctrTitle"/>
          </p:nvPr>
        </p:nvSpPr>
        <p:spPr>
          <a:xfrm>
            <a:off x="564588" y="189852"/>
            <a:ext cx="6598200" cy="16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  <a:defRPr sz="5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8"/>
          <p:cNvSpPr txBox="1"/>
          <p:nvPr>
            <p:ph idx="1" type="subTitle"/>
          </p:nvPr>
        </p:nvSpPr>
        <p:spPr>
          <a:xfrm>
            <a:off x="564588" y="1829639"/>
            <a:ext cx="41967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800"/>
              <a:buNone/>
              <a:defRPr>
                <a:solidFill>
                  <a:srgbClr val="88898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400"/>
              <a:buNone/>
              <a:defRPr>
                <a:solidFill>
                  <a:srgbClr val="88898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9pPr>
          </a:lstStyle>
          <a:p/>
        </p:txBody>
      </p:sp>
      <p:pic>
        <p:nvPicPr>
          <p:cNvPr descr="UM40_RGB_B_blauw.png" id="165" name="Google Shape;165;p18"/>
          <p:cNvPicPr preferRelativeResize="0"/>
          <p:nvPr/>
        </p:nvPicPr>
        <p:blipFill rotWithShape="1">
          <a:blip r:embed="rId2">
            <a:alphaModFix/>
          </a:blip>
          <a:srcRect b="0" l="0" r="20319" t="0"/>
          <a:stretch/>
        </p:blipFill>
        <p:spPr>
          <a:xfrm>
            <a:off x="360001" y="4630501"/>
            <a:ext cx="1590639" cy="381853"/>
          </a:xfrm>
          <a:prstGeom prst="rect">
            <a:avLst/>
          </a:prstGeom>
          <a:noFill/>
          <a:ln>
            <a:noFill/>
          </a:ln>
        </p:spPr>
      </p:pic>
      <p:sp>
        <p:nvSpPr>
          <p:cNvPr descr="Future look.png" id="166" name="Google Shape;166;p18"/>
          <p:cNvSpPr/>
          <p:nvPr/>
        </p:nvSpPr>
        <p:spPr>
          <a:xfrm>
            <a:off x="5396488" y="1884997"/>
            <a:ext cx="3532800" cy="326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3996" y="4749973"/>
            <a:ext cx="2915999" cy="14290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photo Randwijck">
  <p:cSld name="Title slide photo Randwijc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ctrTitle"/>
          </p:nvPr>
        </p:nvSpPr>
        <p:spPr>
          <a:xfrm>
            <a:off x="564587" y="189852"/>
            <a:ext cx="7377000" cy="16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1A3B"/>
              </a:buClr>
              <a:buSzPts val="5400"/>
              <a:buFont typeface="Calibri"/>
              <a:buNone/>
              <a:defRPr sz="5400">
                <a:solidFill>
                  <a:srgbClr val="001A3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19"/>
          <p:cNvSpPr txBox="1"/>
          <p:nvPr>
            <p:ph idx="1" type="subTitle"/>
          </p:nvPr>
        </p:nvSpPr>
        <p:spPr>
          <a:xfrm>
            <a:off x="564588" y="1829639"/>
            <a:ext cx="41967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1A3B"/>
              </a:buClr>
              <a:buSzPts val="2000"/>
              <a:buNone/>
              <a:defRPr sz="2000">
                <a:solidFill>
                  <a:srgbClr val="001A3B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800"/>
              <a:buNone/>
              <a:defRPr>
                <a:solidFill>
                  <a:srgbClr val="88898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400"/>
              <a:buNone/>
              <a:defRPr>
                <a:solidFill>
                  <a:srgbClr val="88898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9pPr>
          </a:lstStyle>
          <a:p/>
        </p:txBody>
      </p:sp>
      <p:pic>
        <p:nvPicPr>
          <p:cNvPr descr="UM40_RGB_B_blauw.png" id="172" name="Google Shape;172;p19"/>
          <p:cNvPicPr preferRelativeResize="0"/>
          <p:nvPr/>
        </p:nvPicPr>
        <p:blipFill rotWithShape="1">
          <a:blip r:embed="rId3">
            <a:alphaModFix/>
          </a:blip>
          <a:srcRect b="0" l="0" r="20319" t="0"/>
          <a:stretch/>
        </p:blipFill>
        <p:spPr>
          <a:xfrm>
            <a:off x="360001" y="4630501"/>
            <a:ext cx="1590639" cy="381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23996" y="4749973"/>
            <a:ext cx="2915999" cy="14290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 photo Randwijck">
  <p:cSld name="1_Title slide photo Randwijc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ctrTitle"/>
          </p:nvPr>
        </p:nvSpPr>
        <p:spPr>
          <a:xfrm>
            <a:off x="564587" y="189852"/>
            <a:ext cx="7377000" cy="16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1A3B"/>
              </a:buClr>
              <a:buSzPts val="5400"/>
              <a:buFont typeface="Calibri"/>
              <a:buNone/>
              <a:defRPr sz="5400">
                <a:solidFill>
                  <a:srgbClr val="001A3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0"/>
          <p:cNvSpPr txBox="1"/>
          <p:nvPr>
            <p:ph idx="1" type="subTitle"/>
          </p:nvPr>
        </p:nvSpPr>
        <p:spPr>
          <a:xfrm>
            <a:off x="564588" y="1829639"/>
            <a:ext cx="41967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1A3B"/>
              </a:buClr>
              <a:buSzPts val="2000"/>
              <a:buNone/>
              <a:defRPr sz="2000">
                <a:solidFill>
                  <a:srgbClr val="001A3B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800"/>
              <a:buNone/>
              <a:defRPr>
                <a:solidFill>
                  <a:srgbClr val="88898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400"/>
              <a:buNone/>
              <a:defRPr>
                <a:solidFill>
                  <a:srgbClr val="88898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9pPr>
          </a:lstStyle>
          <a:p/>
        </p:txBody>
      </p:sp>
      <p:pic>
        <p:nvPicPr>
          <p:cNvPr descr="UM40_RGB_B_blauw.png" id="178" name="Google Shape;178;p20"/>
          <p:cNvPicPr preferRelativeResize="0"/>
          <p:nvPr/>
        </p:nvPicPr>
        <p:blipFill rotWithShape="1">
          <a:blip r:embed="rId3">
            <a:alphaModFix/>
          </a:blip>
          <a:srcRect b="0" l="0" r="20319" t="0"/>
          <a:stretch/>
        </p:blipFill>
        <p:spPr>
          <a:xfrm>
            <a:off x="360001" y="4630501"/>
            <a:ext cx="1590639" cy="381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23996" y="4749973"/>
            <a:ext cx="2915999" cy="142903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dark blue">
  <p:cSld name="Title slide dark blue">
    <p:bg>
      <p:bgPr>
        <a:solidFill>
          <a:schemeClr val="dk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M40_RGB_B_diap.png" id="182" name="Google Shape;182;p21"/>
          <p:cNvPicPr preferRelativeResize="0"/>
          <p:nvPr/>
        </p:nvPicPr>
        <p:blipFill rotWithShape="1">
          <a:blip r:embed="rId2">
            <a:alphaModFix/>
          </a:blip>
          <a:srcRect b="0" l="0" r="20319" t="0"/>
          <a:stretch/>
        </p:blipFill>
        <p:spPr>
          <a:xfrm>
            <a:off x="360001" y="4630499"/>
            <a:ext cx="1590639" cy="381853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1"/>
          <p:cNvSpPr txBox="1"/>
          <p:nvPr>
            <p:ph type="ctrTitle"/>
          </p:nvPr>
        </p:nvSpPr>
        <p:spPr>
          <a:xfrm>
            <a:off x="564588" y="189852"/>
            <a:ext cx="6598200" cy="16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  <a:defRPr sz="5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21"/>
          <p:cNvSpPr txBox="1"/>
          <p:nvPr>
            <p:ph idx="1" type="subTitle"/>
          </p:nvPr>
        </p:nvSpPr>
        <p:spPr>
          <a:xfrm>
            <a:off x="564588" y="1829639"/>
            <a:ext cx="41967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800"/>
              <a:buNone/>
              <a:defRPr>
                <a:solidFill>
                  <a:srgbClr val="88898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400"/>
              <a:buNone/>
              <a:defRPr>
                <a:solidFill>
                  <a:srgbClr val="88898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9pPr>
          </a:lstStyle>
          <a:p/>
        </p:txBody>
      </p:sp>
      <p:pic>
        <p:nvPicPr>
          <p:cNvPr id="185" name="Google Shape;18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3996" y="4749973"/>
            <a:ext cx="2915999" cy="142903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 dark blue">
  <p:cSld name="1_Title slide dark blue">
    <p:bg>
      <p:bgPr>
        <a:solidFill>
          <a:schemeClr val="dk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M40_RGB_B_diap.png" id="188" name="Google Shape;188;p22"/>
          <p:cNvPicPr preferRelativeResize="0"/>
          <p:nvPr/>
        </p:nvPicPr>
        <p:blipFill rotWithShape="1">
          <a:blip r:embed="rId2">
            <a:alphaModFix/>
          </a:blip>
          <a:srcRect b="0" l="0" r="20319" t="0"/>
          <a:stretch/>
        </p:blipFill>
        <p:spPr>
          <a:xfrm>
            <a:off x="360001" y="4630499"/>
            <a:ext cx="1590639" cy="381853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2"/>
          <p:cNvSpPr txBox="1"/>
          <p:nvPr>
            <p:ph type="ctrTitle"/>
          </p:nvPr>
        </p:nvSpPr>
        <p:spPr>
          <a:xfrm>
            <a:off x="564588" y="189852"/>
            <a:ext cx="6598200" cy="16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  <a:defRPr sz="5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22"/>
          <p:cNvSpPr txBox="1"/>
          <p:nvPr>
            <p:ph idx="1" type="subTitle"/>
          </p:nvPr>
        </p:nvSpPr>
        <p:spPr>
          <a:xfrm>
            <a:off x="564588" y="1829639"/>
            <a:ext cx="41967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800"/>
              <a:buNone/>
              <a:defRPr>
                <a:solidFill>
                  <a:srgbClr val="88898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400"/>
              <a:buNone/>
              <a:defRPr>
                <a:solidFill>
                  <a:srgbClr val="88898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9pPr>
          </a:lstStyle>
          <a:p/>
        </p:txBody>
      </p:sp>
      <p:pic>
        <p:nvPicPr>
          <p:cNvPr id="191" name="Google Shape;19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3996" y="4749973"/>
            <a:ext cx="2915999" cy="142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95196" y="2272938"/>
            <a:ext cx="4548805" cy="301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orange">
  <p:cSld name="Title slide orange">
    <p:bg>
      <p:bgPr>
        <a:solidFill>
          <a:schemeClr val="accen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M40_RGB_B_diap.png" id="195" name="Google Shape;195;p23"/>
          <p:cNvPicPr preferRelativeResize="0"/>
          <p:nvPr/>
        </p:nvPicPr>
        <p:blipFill rotWithShape="1">
          <a:blip r:embed="rId2">
            <a:alphaModFix/>
          </a:blip>
          <a:srcRect b="0" l="0" r="20930" t="0"/>
          <a:stretch/>
        </p:blipFill>
        <p:spPr>
          <a:xfrm>
            <a:off x="360001" y="4630499"/>
            <a:ext cx="1578481" cy="38185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3"/>
          <p:cNvSpPr txBox="1"/>
          <p:nvPr>
            <p:ph type="ctrTitle"/>
          </p:nvPr>
        </p:nvSpPr>
        <p:spPr>
          <a:xfrm>
            <a:off x="564588" y="189852"/>
            <a:ext cx="6598200" cy="16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  <a:defRPr sz="5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23"/>
          <p:cNvSpPr txBox="1"/>
          <p:nvPr>
            <p:ph idx="1" type="subTitle"/>
          </p:nvPr>
        </p:nvSpPr>
        <p:spPr>
          <a:xfrm>
            <a:off x="564588" y="1829639"/>
            <a:ext cx="41967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800"/>
              <a:buNone/>
              <a:defRPr>
                <a:solidFill>
                  <a:srgbClr val="88898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400"/>
              <a:buNone/>
              <a:defRPr>
                <a:solidFill>
                  <a:srgbClr val="88898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9pPr>
          </a:lstStyle>
          <a:p/>
        </p:txBody>
      </p:sp>
      <p:pic>
        <p:nvPicPr>
          <p:cNvPr id="198" name="Google Shape;19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3996" y="4749973"/>
            <a:ext cx="2915999" cy="142903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 orange">
  <p:cSld name="1_Title slide orange">
    <p:bg>
      <p:bgPr>
        <a:solidFill>
          <a:schemeClr val="accent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M40_RGB_B_diap.png" id="201" name="Google Shape;201;p24"/>
          <p:cNvPicPr preferRelativeResize="0"/>
          <p:nvPr/>
        </p:nvPicPr>
        <p:blipFill rotWithShape="1">
          <a:blip r:embed="rId2">
            <a:alphaModFix/>
          </a:blip>
          <a:srcRect b="0" l="0" r="20930" t="0"/>
          <a:stretch/>
        </p:blipFill>
        <p:spPr>
          <a:xfrm>
            <a:off x="360001" y="4630499"/>
            <a:ext cx="1578481" cy="381853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4"/>
          <p:cNvSpPr txBox="1"/>
          <p:nvPr>
            <p:ph type="ctrTitle"/>
          </p:nvPr>
        </p:nvSpPr>
        <p:spPr>
          <a:xfrm>
            <a:off x="564588" y="189852"/>
            <a:ext cx="6598200" cy="16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  <a:defRPr sz="5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24"/>
          <p:cNvSpPr txBox="1"/>
          <p:nvPr>
            <p:ph idx="1" type="subTitle"/>
          </p:nvPr>
        </p:nvSpPr>
        <p:spPr>
          <a:xfrm>
            <a:off x="564588" y="1829639"/>
            <a:ext cx="41967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800"/>
              <a:buNone/>
              <a:defRPr>
                <a:solidFill>
                  <a:srgbClr val="88898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400"/>
              <a:buNone/>
              <a:defRPr>
                <a:solidFill>
                  <a:srgbClr val="88898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98F"/>
              </a:buClr>
              <a:buSzPts val="2000"/>
              <a:buNone/>
              <a:defRPr>
                <a:solidFill>
                  <a:srgbClr val="88898F"/>
                </a:solidFill>
              </a:defRPr>
            </a:lvl9pPr>
          </a:lstStyle>
          <a:p/>
        </p:txBody>
      </p:sp>
      <p:pic>
        <p:nvPicPr>
          <p:cNvPr id="204" name="Google Shape;20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3996" y="4749973"/>
            <a:ext cx="2915999" cy="142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95196" y="2272938"/>
            <a:ext cx="4548805" cy="3015293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slide dark blue">
  <p:cSld name="Text slide dark blue">
    <p:bg>
      <p:bgPr>
        <a:solidFill>
          <a:schemeClr val="accent3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type="title"/>
          </p:nvPr>
        </p:nvSpPr>
        <p:spPr>
          <a:xfrm>
            <a:off x="360000" y="310695"/>
            <a:ext cx="8326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5"/>
          <p:cNvSpPr txBox="1"/>
          <p:nvPr>
            <p:ph idx="1" type="body"/>
          </p:nvPr>
        </p:nvSpPr>
        <p:spPr>
          <a:xfrm>
            <a:off x="360000" y="972000"/>
            <a:ext cx="8326800" cy="3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318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>
                <a:solidFill>
                  <a:schemeClr val="lt1"/>
                </a:solidFill>
              </a:defRPr>
            </a:lvl1pPr>
            <a:lvl2pPr indent="-406400" lvl="1" marL="9144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-"/>
              <a:defRPr>
                <a:solidFill>
                  <a:schemeClr val="lt1"/>
                </a:solidFill>
              </a:defRPr>
            </a:lvl2pPr>
            <a:lvl3pPr indent="-381000" lvl="2" marL="1371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-"/>
              <a:defRPr>
                <a:solidFill>
                  <a:schemeClr val="lt1"/>
                </a:solidFill>
              </a:defRPr>
            </a:lvl3pPr>
            <a:lvl4pPr indent="-355600" lvl="3" marL="18288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-"/>
              <a:defRPr>
                <a:solidFill>
                  <a:schemeClr val="lt1"/>
                </a:solidFill>
              </a:defRPr>
            </a:lvl4pPr>
            <a:lvl5pPr indent="-355600" lvl="4" marL="22860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-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0" name="Google Shape;210;p25"/>
          <p:cNvSpPr txBox="1"/>
          <p:nvPr>
            <p:ph idx="12" type="sldNum"/>
          </p:nvPr>
        </p:nvSpPr>
        <p:spPr>
          <a:xfrm>
            <a:off x="8316142" y="4738800"/>
            <a:ext cx="370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pic>
        <p:nvPicPr>
          <p:cNvPr descr="UM40_RGB_B_diap.png" id="211" name="Google Shape;211;p25"/>
          <p:cNvPicPr preferRelativeResize="0"/>
          <p:nvPr/>
        </p:nvPicPr>
        <p:blipFill rotWithShape="1">
          <a:blip r:embed="rId2">
            <a:alphaModFix/>
          </a:blip>
          <a:srcRect b="0" l="0" r="21235" t="0"/>
          <a:stretch/>
        </p:blipFill>
        <p:spPr>
          <a:xfrm>
            <a:off x="360001" y="4630499"/>
            <a:ext cx="1572409" cy="381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3996" y="4749973"/>
            <a:ext cx="2915999" cy="142903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5"/>
          <p:cNvSpPr txBox="1"/>
          <p:nvPr>
            <p:ph idx="10" type="dt"/>
          </p:nvPr>
        </p:nvSpPr>
        <p:spPr>
          <a:xfrm>
            <a:off x="7336205" y="4736102"/>
            <a:ext cx="914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slide light blue">
  <p:cSld name="Text slide light blue">
    <p:bg>
      <p:bgPr>
        <a:solidFill>
          <a:schemeClr val="dk2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6"/>
          <p:cNvSpPr txBox="1"/>
          <p:nvPr>
            <p:ph type="title"/>
          </p:nvPr>
        </p:nvSpPr>
        <p:spPr>
          <a:xfrm>
            <a:off x="360000" y="310695"/>
            <a:ext cx="8326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6"/>
          <p:cNvSpPr txBox="1"/>
          <p:nvPr>
            <p:ph idx="1" type="body"/>
          </p:nvPr>
        </p:nvSpPr>
        <p:spPr>
          <a:xfrm>
            <a:off x="360000" y="972000"/>
            <a:ext cx="8326800" cy="3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31800" lvl="0" marL="4572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>
                <a:solidFill>
                  <a:schemeClr val="lt1"/>
                </a:solidFill>
              </a:defRPr>
            </a:lvl1pPr>
            <a:lvl2pPr indent="-406400" lvl="1" marL="9144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-"/>
              <a:defRPr>
                <a:solidFill>
                  <a:schemeClr val="lt1"/>
                </a:solidFill>
              </a:defRPr>
            </a:lvl2pPr>
            <a:lvl3pPr indent="-381000" lvl="2" marL="1371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-"/>
              <a:defRPr>
                <a:solidFill>
                  <a:schemeClr val="lt1"/>
                </a:solidFill>
              </a:defRPr>
            </a:lvl3pPr>
            <a:lvl4pPr indent="-355600" lvl="3" marL="18288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-"/>
              <a:defRPr>
                <a:solidFill>
                  <a:schemeClr val="lt1"/>
                </a:solidFill>
              </a:defRPr>
            </a:lvl4pPr>
            <a:lvl5pPr indent="-355600" lvl="4" marL="22860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-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7" name="Google Shape;217;p26"/>
          <p:cNvSpPr txBox="1"/>
          <p:nvPr>
            <p:ph idx="12" type="sldNum"/>
          </p:nvPr>
        </p:nvSpPr>
        <p:spPr>
          <a:xfrm>
            <a:off x="8316142" y="4738800"/>
            <a:ext cx="370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pic>
        <p:nvPicPr>
          <p:cNvPr descr="UM40_RGB_B_blauw.png" id="218" name="Google Shape;218;p26"/>
          <p:cNvPicPr preferRelativeResize="0"/>
          <p:nvPr/>
        </p:nvPicPr>
        <p:blipFill rotWithShape="1">
          <a:blip r:embed="rId2">
            <a:alphaModFix/>
          </a:blip>
          <a:srcRect b="0" l="0" r="20319" t="0"/>
          <a:stretch/>
        </p:blipFill>
        <p:spPr>
          <a:xfrm>
            <a:off x="360001" y="4630501"/>
            <a:ext cx="1590639" cy="381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3996" y="4749973"/>
            <a:ext cx="2915999" cy="142903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6"/>
          <p:cNvSpPr txBox="1"/>
          <p:nvPr>
            <p:ph idx="10" type="dt"/>
          </p:nvPr>
        </p:nvSpPr>
        <p:spPr>
          <a:xfrm>
            <a:off x="7336205" y="4736102"/>
            <a:ext cx="914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/photo slide">
  <p:cSld name="Text/photo slide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7"/>
          <p:cNvSpPr txBox="1"/>
          <p:nvPr>
            <p:ph type="title"/>
          </p:nvPr>
        </p:nvSpPr>
        <p:spPr>
          <a:xfrm>
            <a:off x="360001" y="310695"/>
            <a:ext cx="3934500" cy="1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7"/>
          <p:cNvSpPr txBox="1"/>
          <p:nvPr>
            <p:ph idx="1" type="body"/>
          </p:nvPr>
        </p:nvSpPr>
        <p:spPr>
          <a:xfrm>
            <a:off x="360001" y="1485117"/>
            <a:ext cx="39345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indent="-3429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4pPr>
            <a:lvl5pPr indent="-3429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4" name="Google Shape;224;p27"/>
          <p:cNvSpPr txBox="1"/>
          <p:nvPr>
            <p:ph idx="10" type="dt"/>
          </p:nvPr>
        </p:nvSpPr>
        <p:spPr>
          <a:xfrm>
            <a:off x="4595043" y="4738971"/>
            <a:ext cx="550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27"/>
          <p:cNvSpPr txBox="1"/>
          <p:nvPr>
            <p:ph idx="11" type="ftr"/>
          </p:nvPr>
        </p:nvSpPr>
        <p:spPr>
          <a:xfrm>
            <a:off x="4745252" y="4738971"/>
            <a:ext cx="3450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7"/>
          <p:cNvSpPr txBox="1"/>
          <p:nvPr>
            <p:ph idx="12" type="sldNum"/>
          </p:nvPr>
        </p:nvSpPr>
        <p:spPr>
          <a:xfrm>
            <a:off x="8195205" y="4738800"/>
            <a:ext cx="570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227" name="Google Shape;227;p27"/>
          <p:cNvSpPr/>
          <p:nvPr>
            <p:ph idx="2" type="pic"/>
          </p:nvPr>
        </p:nvSpPr>
        <p:spPr>
          <a:xfrm>
            <a:off x="4595044" y="0"/>
            <a:ext cx="4548900" cy="51435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pic>
        <p:nvPicPr>
          <p:cNvPr id="228" name="Google Shape;228;p27"/>
          <p:cNvPicPr preferRelativeResize="0"/>
          <p:nvPr/>
        </p:nvPicPr>
        <p:blipFill rotWithShape="1">
          <a:blip r:embed="rId2">
            <a:alphaModFix/>
          </a:blip>
          <a:srcRect b="0" l="0" r="19769" t="0"/>
          <a:stretch/>
        </p:blipFill>
        <p:spPr>
          <a:xfrm>
            <a:off x="360001" y="4630216"/>
            <a:ext cx="1602792" cy="379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slide">
  <p:cSld name="Photo slide">
    <p:bg>
      <p:bgPr>
        <a:solidFill>
          <a:schemeClr val="lt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" name="Google Shape;231;p28"/>
          <p:cNvSpPr txBox="1"/>
          <p:nvPr>
            <p:ph idx="12" type="sldNum"/>
          </p:nvPr>
        </p:nvSpPr>
        <p:spPr>
          <a:xfrm>
            <a:off x="8316142" y="4738800"/>
            <a:ext cx="370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232" name="Google Shape;232;p28"/>
          <p:cNvSpPr txBox="1"/>
          <p:nvPr>
            <p:ph idx="1" type="body"/>
          </p:nvPr>
        </p:nvSpPr>
        <p:spPr>
          <a:xfrm>
            <a:off x="358700" y="4686937"/>
            <a:ext cx="1533600" cy="2334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33" name="Google Shape;23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3996" y="4749973"/>
            <a:ext cx="2915999" cy="142903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8"/>
          <p:cNvSpPr txBox="1"/>
          <p:nvPr>
            <p:ph idx="10" type="dt"/>
          </p:nvPr>
        </p:nvSpPr>
        <p:spPr>
          <a:xfrm>
            <a:off x="7336205" y="4736102"/>
            <a:ext cx="914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slide">
  <p:cSld name="Table slide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9"/>
          <p:cNvSpPr txBox="1"/>
          <p:nvPr>
            <p:ph type="title"/>
          </p:nvPr>
        </p:nvSpPr>
        <p:spPr>
          <a:xfrm>
            <a:off x="360000" y="310695"/>
            <a:ext cx="8326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9"/>
          <p:cNvSpPr txBox="1"/>
          <p:nvPr>
            <p:ph idx="12" type="sldNum"/>
          </p:nvPr>
        </p:nvSpPr>
        <p:spPr>
          <a:xfrm>
            <a:off x="8316142" y="4738800"/>
            <a:ext cx="370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pic>
        <p:nvPicPr>
          <p:cNvPr id="238" name="Google Shape;238;p29"/>
          <p:cNvPicPr preferRelativeResize="0"/>
          <p:nvPr/>
        </p:nvPicPr>
        <p:blipFill rotWithShape="1">
          <a:blip r:embed="rId2">
            <a:alphaModFix/>
          </a:blip>
          <a:srcRect b="0" l="0" r="19769" t="0"/>
          <a:stretch/>
        </p:blipFill>
        <p:spPr>
          <a:xfrm>
            <a:off x="360001" y="4630216"/>
            <a:ext cx="1602792" cy="379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3996" y="4749973"/>
            <a:ext cx="2915999" cy="142903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9"/>
          <p:cNvSpPr txBox="1"/>
          <p:nvPr>
            <p:ph idx="10" type="dt"/>
          </p:nvPr>
        </p:nvSpPr>
        <p:spPr>
          <a:xfrm>
            <a:off x="7336205" y="4736102"/>
            <a:ext cx="914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 txBox="1"/>
          <p:nvPr>
            <p:ph type="title"/>
          </p:nvPr>
        </p:nvSpPr>
        <p:spPr>
          <a:xfrm>
            <a:off x="360000" y="310695"/>
            <a:ext cx="8326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  <a:defRPr b="1" i="0" sz="3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2" name="Google Shape;132;p13"/>
          <p:cNvSpPr txBox="1"/>
          <p:nvPr>
            <p:ph idx="1" type="body"/>
          </p:nvPr>
        </p:nvSpPr>
        <p:spPr>
          <a:xfrm>
            <a:off x="360000" y="972000"/>
            <a:ext cx="8326800" cy="3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31800" lvl="0" marL="45720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Sans"/>
              <a:buChar char="-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erriweather Sans"/>
              <a:buChar char="-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 Sans"/>
              <a:buChar char="-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 Sans"/>
              <a:buChar char="-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3" name="Google Shape;133;p13"/>
          <p:cNvSpPr txBox="1"/>
          <p:nvPr>
            <p:ph idx="10" type="dt"/>
          </p:nvPr>
        </p:nvSpPr>
        <p:spPr>
          <a:xfrm>
            <a:off x="3234468" y="4738971"/>
            <a:ext cx="914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11" type="ftr"/>
          </p:nvPr>
        </p:nvSpPr>
        <p:spPr>
          <a:xfrm>
            <a:off x="4273246" y="4738971"/>
            <a:ext cx="3977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12" type="sldNum"/>
          </p:nvPr>
        </p:nvSpPr>
        <p:spPr>
          <a:xfrm>
            <a:off x="8316142" y="4738800"/>
            <a:ext cx="370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Ia6OJMHEBjoHalXq2Q9zCXRCmBj8yx5-/view" TargetMode="External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1"/>
          <p:cNvSpPr txBox="1"/>
          <p:nvPr>
            <p:ph type="ctrTitle"/>
          </p:nvPr>
        </p:nvSpPr>
        <p:spPr>
          <a:xfrm>
            <a:off x="575850" y="771100"/>
            <a:ext cx="79923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lang="nl" sz="4200"/>
              <a:t>Moment Retrieval</a:t>
            </a:r>
            <a:endParaRPr/>
          </a:p>
        </p:txBody>
      </p:sp>
      <p:sp>
        <p:nvSpPr>
          <p:cNvPr id="248" name="Google Shape;248;p31"/>
          <p:cNvSpPr txBox="1"/>
          <p:nvPr>
            <p:ph idx="1" type="subTitle"/>
          </p:nvPr>
        </p:nvSpPr>
        <p:spPr>
          <a:xfrm>
            <a:off x="570150" y="2786800"/>
            <a:ext cx="8003700" cy="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</a:pPr>
            <a:r>
              <a:rPr b="1" lang="nl" sz="2500"/>
              <a:t>Computer Vision</a:t>
            </a:r>
            <a:endParaRPr b="1"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</a:pPr>
            <a:r>
              <a:rPr b="1" lang="nl" sz="1500"/>
              <a:t>11</a:t>
            </a:r>
            <a:r>
              <a:rPr b="1" baseline="30000" lang="nl" sz="1500"/>
              <a:t>th</a:t>
            </a:r>
            <a:r>
              <a:rPr b="1" lang="nl" sz="1500"/>
              <a:t> May 2026</a:t>
            </a:r>
            <a:endParaRPr sz="2800"/>
          </a:p>
        </p:txBody>
      </p:sp>
      <p:sp>
        <p:nvSpPr>
          <p:cNvPr id="249" name="Google Shape;249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  <p:sp>
        <p:nvSpPr>
          <p:cNvPr id="250" name="Google Shape;250;p31"/>
          <p:cNvSpPr txBox="1"/>
          <p:nvPr/>
        </p:nvSpPr>
        <p:spPr>
          <a:xfrm>
            <a:off x="988350" y="2032225"/>
            <a:ext cx="7167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Presented by Group 7</a:t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1"/>
          <p:cNvSpPr txBox="1"/>
          <p:nvPr/>
        </p:nvSpPr>
        <p:spPr>
          <a:xfrm>
            <a:off x="2578500" y="3790575"/>
            <a:ext cx="398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Mirela Popa</a:t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2"/>
          <p:cNvSpPr txBox="1"/>
          <p:nvPr>
            <p:ph type="title"/>
          </p:nvPr>
        </p:nvSpPr>
        <p:spPr>
          <a:xfrm>
            <a:off x="360000" y="310695"/>
            <a:ext cx="8326800" cy="56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Pipeline in Progress</a:t>
            </a:r>
            <a:endParaRPr/>
          </a:p>
        </p:txBody>
      </p:sp>
      <p:pic>
        <p:nvPicPr>
          <p:cNvPr id="257" name="Google Shape;25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925" y="1324650"/>
            <a:ext cx="8572150" cy="255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2"/>
          <p:cNvSpPr txBox="1"/>
          <p:nvPr>
            <p:ph idx="12" type="sldNum"/>
          </p:nvPr>
        </p:nvSpPr>
        <p:spPr>
          <a:xfrm>
            <a:off x="8316142" y="4738800"/>
            <a:ext cx="370800" cy="27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nl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3"/>
          <p:cNvSpPr txBox="1"/>
          <p:nvPr>
            <p:ph type="title"/>
          </p:nvPr>
        </p:nvSpPr>
        <p:spPr>
          <a:xfrm>
            <a:off x="360000" y="310695"/>
            <a:ext cx="8326800" cy="56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solidFill>
                  <a:schemeClr val="accent1"/>
                </a:solidFill>
              </a:rPr>
              <a:t>Annotations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64" name="Google Shape;264;p33"/>
          <p:cNvSpPr txBox="1"/>
          <p:nvPr>
            <p:ph idx="12" type="sldNum"/>
          </p:nvPr>
        </p:nvSpPr>
        <p:spPr>
          <a:xfrm>
            <a:off x="8316142" y="4738800"/>
            <a:ext cx="370800" cy="27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265" name="Google Shape;265;p33"/>
          <p:cNvSpPr txBox="1"/>
          <p:nvPr>
            <p:ph idx="1" type="body"/>
          </p:nvPr>
        </p:nvSpPr>
        <p:spPr>
          <a:xfrm>
            <a:off x="360000" y="972000"/>
            <a:ext cx="4684200" cy="333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800">
                <a:solidFill>
                  <a:schemeClr val="dk2"/>
                </a:solidFill>
              </a:rPr>
              <a:t>Videos</a:t>
            </a:r>
            <a:endParaRPr b="1" sz="1800">
              <a:solidFill>
                <a:schemeClr val="dk2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</a:pPr>
            <a:r>
              <a:rPr lang="nl" sz="1800">
                <a:solidFill>
                  <a:schemeClr val="lt2"/>
                </a:solidFill>
              </a:rPr>
              <a:t>TVSum </a:t>
            </a:r>
            <a:endParaRPr sz="1800">
              <a:solidFill>
                <a:schemeClr val="lt2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</a:pPr>
            <a:r>
              <a:rPr lang="nl" sz="1800">
                <a:solidFill>
                  <a:schemeClr val="lt2"/>
                </a:solidFill>
              </a:rPr>
              <a:t>25, 26, 27, 28</a:t>
            </a:r>
            <a:endParaRPr sz="1800">
              <a:solidFill>
                <a:schemeClr val="lt2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800">
                <a:solidFill>
                  <a:schemeClr val="dk2"/>
                </a:solidFill>
              </a:rPr>
              <a:t>Challenges</a:t>
            </a:r>
            <a:endParaRPr sz="1800"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nl" sz="1800"/>
              <a:t>Chaotic videos (25 requires multiple watches to understand)</a:t>
            </a:r>
            <a:endParaRPr sz="1800"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</a:pPr>
            <a:r>
              <a:rPr lang="nl" sz="1800"/>
              <a:t>Repetition of many similar scenes</a:t>
            </a:r>
            <a:endParaRPr sz="1800"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nl" sz="1800"/>
              <a:t>Video length (more than 150 seconds long)</a:t>
            </a:r>
            <a:endParaRPr sz="1800"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nl" sz="1800"/>
              <a:t>Relying on audio heavily (especially video 27)</a:t>
            </a:r>
            <a:endParaRPr sz="1800"/>
          </a:p>
        </p:txBody>
      </p:sp>
      <p:pic>
        <p:nvPicPr>
          <p:cNvPr descr="{&quot;font&quot;:{&quot;color&quot;:&quot;#FFFFFF&quot;,&quot;family&quot;:&quot;Arial&quot;,&quot;size&quot;:21},&quot;type&quot;:&quot;$$&quot;,&quot;id&quot;:&quot;3&quot;,&quot;aid&quot;:null,&quot;code&quot;:&quot;$$\\left|0\\right\\rangle\\,\\left|1\\right\\rangle$$&quot;,&quot;backgroundColorModified&quot;:false,&quot;backgroundColor&quot;:&quot;#001C3D&quot;,&quot;ts&quot;:1764519758635,&quot;cs&quot;:&quot;k1lfKhvcEKd/JiCbU75Rig==&quot;,&quot;size&quot;:{&quot;width&quot;:80.16666666666667,&quot;height&quot;:33}}" id="266" name="Google Shape;266;p33"/>
          <p:cNvPicPr preferRelativeResize="0"/>
          <p:nvPr/>
        </p:nvPicPr>
        <p:blipFill rotWithShape="1">
          <a:blip r:embed="rId3">
            <a:alphaModFix/>
          </a:blip>
          <a:srcRect b="0" l="-193960" r="193960" t="0"/>
          <a:stretch/>
        </p:blipFill>
        <p:spPr>
          <a:xfrm>
            <a:off x="3387706" y="4234075"/>
            <a:ext cx="763588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6450" y="1592625"/>
            <a:ext cx="3518126" cy="165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4"/>
          <p:cNvSpPr txBox="1"/>
          <p:nvPr>
            <p:ph type="title"/>
          </p:nvPr>
        </p:nvSpPr>
        <p:spPr>
          <a:xfrm>
            <a:off x="360000" y="310695"/>
            <a:ext cx="8326800" cy="56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solidFill>
                  <a:schemeClr val="accent1"/>
                </a:solidFill>
              </a:rPr>
              <a:t>VLM + LLM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73" name="Google Shape;273;p34"/>
          <p:cNvSpPr txBox="1"/>
          <p:nvPr>
            <p:ph idx="12" type="sldNum"/>
          </p:nvPr>
        </p:nvSpPr>
        <p:spPr>
          <a:xfrm>
            <a:off x="8316142" y="4738800"/>
            <a:ext cx="370800" cy="27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274" name="Google Shape;274;p34"/>
          <p:cNvSpPr txBox="1"/>
          <p:nvPr>
            <p:ph idx="1" type="body"/>
          </p:nvPr>
        </p:nvSpPr>
        <p:spPr>
          <a:xfrm>
            <a:off x="360000" y="972000"/>
            <a:ext cx="5049600" cy="364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800">
                <a:solidFill>
                  <a:schemeClr val="dk2"/>
                </a:solidFill>
              </a:rPr>
              <a:t>Generating the video descriptions</a:t>
            </a:r>
            <a:endParaRPr b="1" sz="1800">
              <a:solidFill>
                <a:schemeClr val="dk2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</a:pPr>
            <a:r>
              <a:rPr lang="nl" sz="1800"/>
              <a:t>SmolVLM 2</a:t>
            </a:r>
            <a:endParaRPr sz="1800"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nl" sz="1800"/>
              <a:t>Takes n frames + prompt; outputs of the events of the video</a:t>
            </a:r>
            <a:endParaRPr sz="1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800">
                <a:solidFill>
                  <a:schemeClr val="dk2"/>
                </a:solidFill>
              </a:rPr>
              <a:t>Generating the annotations</a:t>
            </a:r>
            <a:endParaRPr b="1" sz="1800">
              <a:solidFill>
                <a:schemeClr val="dk2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nl" sz="1800"/>
              <a:t>Llama 3.2 (+ all-MiniLM-L6-v2)</a:t>
            </a:r>
            <a:endParaRPr sz="1800"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nl" sz="1800"/>
              <a:t>Takes VLM's description, outputs formatted, meaningful descriptions</a:t>
            </a:r>
            <a:endParaRPr sz="1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800">
                <a:solidFill>
                  <a:schemeClr val="dk2"/>
                </a:solidFill>
              </a:rPr>
              <a:t>Challenges</a:t>
            </a:r>
            <a:endParaRPr sz="1800"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nl" sz="1800"/>
              <a:t>Repetition loop </a:t>
            </a:r>
            <a:r>
              <a:rPr lang="nl" sz="900"/>
              <a:t>(repetition_penalty,  no_repeat_ngram_size)</a:t>
            </a:r>
            <a:endParaRPr sz="900"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nl" sz="1800"/>
              <a:t>No timestamps available</a:t>
            </a:r>
            <a:endParaRPr sz="1800"/>
          </a:p>
        </p:txBody>
      </p:sp>
      <p:pic>
        <p:nvPicPr>
          <p:cNvPr descr="{&quot;font&quot;:{&quot;color&quot;:&quot;#FFFFFF&quot;,&quot;family&quot;:&quot;Arial&quot;,&quot;size&quot;:21},&quot;type&quot;:&quot;$$&quot;,&quot;id&quot;:&quot;3&quot;,&quot;aid&quot;:null,&quot;code&quot;:&quot;$$\\left|0\\right\\rangle\\,\\left|1\\right\\rangle$$&quot;,&quot;backgroundColorModified&quot;:false,&quot;backgroundColor&quot;:&quot;#001C3D&quot;,&quot;ts&quot;:1764519758635,&quot;cs&quot;:&quot;k1lfKhvcEKd/JiCbU75Rig==&quot;,&quot;size&quot;:{&quot;width&quot;:80.16666666666667,&quot;height&quot;:33}}" id="275" name="Google Shape;275;p34"/>
          <p:cNvPicPr preferRelativeResize="0"/>
          <p:nvPr/>
        </p:nvPicPr>
        <p:blipFill rotWithShape="1">
          <a:blip r:embed="rId3">
            <a:alphaModFix/>
          </a:blip>
          <a:srcRect b="0" l="-193960" r="193960" t="0"/>
          <a:stretch/>
        </p:blipFill>
        <p:spPr>
          <a:xfrm>
            <a:off x="3387706" y="4234075"/>
            <a:ext cx="763588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0375" y="1213026"/>
            <a:ext cx="2946425" cy="312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5"/>
          <p:cNvSpPr txBox="1"/>
          <p:nvPr>
            <p:ph idx="12" type="sldNum"/>
          </p:nvPr>
        </p:nvSpPr>
        <p:spPr>
          <a:xfrm>
            <a:off x="8316142" y="4738800"/>
            <a:ext cx="370800" cy="27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nl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282" name="Google Shape;282;p35"/>
          <p:cNvSpPr txBox="1"/>
          <p:nvPr>
            <p:ph idx="1" type="body"/>
          </p:nvPr>
        </p:nvSpPr>
        <p:spPr>
          <a:xfrm>
            <a:off x="360000" y="1054850"/>
            <a:ext cx="8056200" cy="298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800"/>
              <a:t>Takes the list of events as input, outputs the best matching timestamps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800">
                <a:solidFill>
                  <a:schemeClr val="dk2"/>
                </a:solidFill>
              </a:rPr>
              <a:t>Results</a:t>
            </a:r>
            <a:endParaRPr b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</a:pPr>
            <a:r>
              <a:rPr lang="nl" sz="1800">
                <a:solidFill>
                  <a:schemeClr val="lt2"/>
                </a:solidFill>
              </a:rPr>
              <a:t>Struggles with repeated events and short moments</a:t>
            </a:r>
            <a:endParaRPr sz="1800">
              <a:solidFill>
                <a:schemeClr val="lt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800">
                <a:solidFill>
                  <a:schemeClr val="dk2"/>
                </a:solidFill>
              </a:rPr>
              <a:t>Challenges</a:t>
            </a:r>
            <a:endParaRPr b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nl" sz="1800"/>
              <a:t>Problem: Videos less than 150 seconds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l" sz="1800"/>
              <a:t>What helped? Speed-up the video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nl" sz="1800"/>
              <a:t>Problem: Moments are often 10-20 seconds long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l" sz="1800"/>
              <a:t>What helped? Rerun the model on the retrieved moment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283" name="Google Shape;283;p35"/>
          <p:cNvSpPr txBox="1"/>
          <p:nvPr>
            <p:ph type="title"/>
          </p:nvPr>
        </p:nvSpPr>
        <p:spPr>
          <a:xfrm>
            <a:off x="360000" y="310695"/>
            <a:ext cx="8326800" cy="56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solidFill>
                  <a:schemeClr val="accent1"/>
                </a:solidFill>
              </a:rPr>
              <a:t>Moment Retrieval: QD-DETR and CG-DETR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6"/>
          <p:cNvSpPr txBox="1"/>
          <p:nvPr>
            <p:ph type="title"/>
          </p:nvPr>
        </p:nvSpPr>
        <p:spPr>
          <a:xfrm>
            <a:off x="360000" y="310700"/>
            <a:ext cx="8822700" cy="56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solidFill>
                  <a:schemeClr val="accent1"/>
                </a:solidFill>
              </a:rPr>
              <a:t>Moment Retrieval: </a:t>
            </a:r>
            <a:r>
              <a:rPr lang="nl">
                <a:solidFill>
                  <a:schemeClr val="accent1"/>
                </a:solidFill>
              </a:rPr>
              <a:t>Video Feature Representations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89" name="Google Shape;289;p36"/>
          <p:cNvSpPr txBox="1"/>
          <p:nvPr>
            <p:ph idx="12" type="sldNum"/>
          </p:nvPr>
        </p:nvSpPr>
        <p:spPr>
          <a:xfrm>
            <a:off x="8316142" y="4738800"/>
            <a:ext cx="370800" cy="27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nl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290" name="Google Shape;290;p36"/>
          <p:cNvSpPr txBox="1"/>
          <p:nvPr>
            <p:ph idx="1" type="body"/>
          </p:nvPr>
        </p:nvSpPr>
        <p:spPr>
          <a:xfrm>
            <a:off x="360000" y="1054850"/>
            <a:ext cx="8056200" cy="298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800">
                <a:solidFill>
                  <a:schemeClr val="dk2"/>
                </a:solidFill>
              </a:rPr>
              <a:t>Feature encoding</a:t>
            </a:r>
            <a:endParaRPr b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nl" sz="1800"/>
              <a:t>CLIP -</a:t>
            </a:r>
            <a:r>
              <a:rPr b="1" lang="nl" sz="1800">
                <a:solidFill>
                  <a:schemeClr val="dk2"/>
                </a:solidFill>
              </a:rPr>
              <a:t> </a:t>
            </a:r>
            <a:r>
              <a:rPr lang="nl" sz="1800"/>
              <a:t>Can identify objects on individual frames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nl" sz="1800"/>
              <a:t>CLIP + SlowFast -</a:t>
            </a:r>
            <a:r>
              <a:rPr b="1" lang="nl" sz="1800">
                <a:solidFill>
                  <a:schemeClr val="dk2"/>
                </a:solidFill>
              </a:rPr>
              <a:t> </a:t>
            </a:r>
            <a:r>
              <a:rPr lang="nl" sz="1800"/>
              <a:t>Is better at modeling active motion throughout the video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800">
                <a:solidFill>
                  <a:schemeClr val="dk2"/>
                </a:solidFill>
              </a:rPr>
              <a:t>Observations</a:t>
            </a:r>
            <a:endParaRPr b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nl" sz="1800"/>
              <a:t>Adding SlowFast improved long moments problem and resulted in higher confidence scores in outputs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7"/>
          <p:cNvSpPr txBox="1"/>
          <p:nvPr>
            <p:ph type="title"/>
          </p:nvPr>
        </p:nvSpPr>
        <p:spPr>
          <a:xfrm>
            <a:off x="360000" y="310695"/>
            <a:ext cx="8326800" cy="56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solidFill>
                  <a:schemeClr val="accent1"/>
                </a:solidFill>
              </a:rPr>
              <a:t>Example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96" name="Google Shape;296;p37"/>
          <p:cNvSpPr txBox="1"/>
          <p:nvPr>
            <p:ph idx="12" type="sldNum"/>
          </p:nvPr>
        </p:nvSpPr>
        <p:spPr>
          <a:xfrm>
            <a:off x="8316142" y="4738800"/>
            <a:ext cx="370800" cy="27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nl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297" name="Google Shape;297;p37"/>
          <p:cNvSpPr txBox="1"/>
          <p:nvPr/>
        </p:nvSpPr>
        <p:spPr>
          <a:xfrm>
            <a:off x="360000" y="889075"/>
            <a:ext cx="8606400" cy="3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eriod"/>
            </a:pPr>
            <a:r>
              <a:rPr lang="nl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person walking down a street in a city, passing by various buildings and shops. | </a:t>
            </a:r>
            <a:r>
              <a:rPr lang="nl" sz="18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Predicted Timestamp </a:t>
            </a:r>
            <a:r>
              <a:rPr lang="nl" sz="180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(75.1, 90.6)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eriod"/>
            </a:pPr>
            <a:r>
              <a:rPr lang="nl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person sitting on the ground, wearing earphones and looking at something in their hands | </a:t>
            </a:r>
            <a:r>
              <a:rPr lang="nl" sz="18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Predicted Timestamp </a:t>
            </a:r>
            <a:r>
              <a:rPr lang="nl" sz="180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(91.4, 97.8)</a:t>
            </a:r>
            <a:endParaRPr sz="180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eriod"/>
            </a:pPr>
            <a:r>
              <a:rPr lang="nl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group of people gathered around a banner, with one person holding a microphone | </a:t>
            </a:r>
            <a:r>
              <a:rPr lang="nl" sz="18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Predicted Timestamp </a:t>
            </a:r>
            <a:r>
              <a:rPr lang="nl" sz="180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(22.0, 32.7)</a:t>
            </a:r>
            <a:endParaRPr sz="180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eriod"/>
            </a:pPr>
            <a:r>
              <a:rPr lang="nl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video then shows a group of people standing on a beach, with a large building in the background | </a:t>
            </a:r>
            <a:r>
              <a:rPr lang="nl" sz="18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Predicted Timestamp </a:t>
            </a:r>
            <a:r>
              <a:rPr lang="nl" sz="180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(172.6, 184.0)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eriod"/>
            </a:pPr>
            <a:r>
              <a:rPr lang="nl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 person lying on a bed, holding a camera | </a:t>
            </a:r>
            <a:r>
              <a:rPr lang="nl" sz="18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Predicted Timestamp</a:t>
            </a:r>
            <a:r>
              <a:rPr lang="nl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nl" sz="180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(228.6, 241.6)</a:t>
            </a:r>
            <a:r>
              <a:rPr lang="nl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eriod"/>
            </a:pPr>
            <a:r>
              <a:rPr lang="nl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 group of people playing in a dirt field, with a large building in the background | </a:t>
            </a:r>
            <a:r>
              <a:rPr lang="nl" sz="18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Predicted Timestamp </a:t>
            </a:r>
            <a:r>
              <a:rPr lang="nl" sz="180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(189.3, 202.1)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8"/>
          <p:cNvSpPr txBox="1"/>
          <p:nvPr>
            <p:ph type="title"/>
          </p:nvPr>
        </p:nvSpPr>
        <p:spPr>
          <a:xfrm>
            <a:off x="360000" y="310695"/>
            <a:ext cx="8326800" cy="56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solidFill>
                  <a:schemeClr val="accent1"/>
                </a:solidFill>
              </a:rPr>
              <a:t>Example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03" name="Google Shape;303;p38"/>
          <p:cNvSpPr txBox="1"/>
          <p:nvPr>
            <p:ph idx="12" type="sldNum"/>
          </p:nvPr>
        </p:nvSpPr>
        <p:spPr>
          <a:xfrm>
            <a:off x="8316142" y="4738800"/>
            <a:ext cx="370800" cy="27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nl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pic>
        <p:nvPicPr>
          <p:cNvPr id="304" name="Google Shape;304;p38" title="video_25_summary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6187" y="877700"/>
            <a:ext cx="4831625" cy="362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9"/>
          <p:cNvSpPr txBox="1"/>
          <p:nvPr>
            <p:ph type="ctrTitle"/>
          </p:nvPr>
        </p:nvSpPr>
        <p:spPr>
          <a:xfrm>
            <a:off x="575850" y="2181150"/>
            <a:ext cx="79923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lang="nl" sz="4200"/>
              <a:t>Questions?</a:t>
            </a:r>
            <a:endParaRPr/>
          </a:p>
        </p:txBody>
      </p:sp>
      <p:sp>
        <p:nvSpPr>
          <p:cNvPr id="310" name="Google Shape;310;p39"/>
          <p:cNvSpPr txBox="1"/>
          <p:nvPr>
            <p:ph idx="1" type="subTitle"/>
          </p:nvPr>
        </p:nvSpPr>
        <p:spPr>
          <a:xfrm>
            <a:off x="570150" y="1050100"/>
            <a:ext cx="8003700" cy="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</a:pPr>
            <a:r>
              <a:rPr b="1" lang="nl" sz="2500"/>
              <a:t>Thanks for </a:t>
            </a:r>
            <a:r>
              <a:rPr b="1" lang="nl" sz="2500"/>
              <a:t>listening</a:t>
            </a:r>
            <a:r>
              <a:rPr b="1" lang="nl" sz="2500"/>
              <a:t>!</a:t>
            </a:r>
            <a:endParaRPr b="1"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311" name="Google Shape;311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  <p:sp>
        <p:nvSpPr>
          <p:cNvPr id="312" name="Google Shape;312;p39"/>
          <p:cNvSpPr txBox="1"/>
          <p:nvPr/>
        </p:nvSpPr>
        <p:spPr>
          <a:xfrm>
            <a:off x="2578500" y="3514600"/>
            <a:ext cx="398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Presented by Group 7</a:t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astricht University">
  <a:themeElements>
    <a:clrScheme name="UM">
      <a:dk1>
        <a:srgbClr val="001C3D"/>
      </a:dk1>
      <a:lt1>
        <a:srgbClr val="FFFFFF"/>
      </a:lt1>
      <a:dk2>
        <a:srgbClr val="00A2DB"/>
      </a:dk2>
      <a:lt2>
        <a:srgbClr val="FFFFFF"/>
      </a:lt2>
      <a:accent1>
        <a:srgbClr val="E84E10"/>
      </a:accent1>
      <a:accent2>
        <a:srgbClr val="00A2DB"/>
      </a:accent2>
      <a:accent3>
        <a:srgbClr val="001C3D"/>
      </a:accent3>
      <a:accent4>
        <a:srgbClr val="F3A687"/>
      </a:accent4>
      <a:accent5>
        <a:srgbClr val="7FD0ED"/>
      </a:accent5>
      <a:accent6>
        <a:srgbClr val="7F8D9E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